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3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4389120"/>
          </a:xfrm>
          <a:prstGeom prst="rect">
            <a:avLst/>
          </a:prstGeom>
          <a:solidFill>
            <a:srgbClr val="527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DCE5D5"/>
                </a:solidFill>
              </a:defRPr>
            </a:pPr>
            <a:r>
              <a:t>ACADEMIC INNOVATION &amp; NEXT-GEN EDTECH</a:t>
            </a:r>
          </a:p>
          <a:p>
            <a:pPr>
              <a:spcAft>
                <a:spcPts val="400"/>
              </a:spcAft>
              <a:defRPr sz="5000" b="1">
                <a:solidFill>
                  <a:srgbClr val="FAF8F1"/>
                </a:solidFill>
              </a:defRPr>
            </a:pPr>
            <a:r>
              <a:t>LibraMind</a:t>
            </a:r>
          </a:p>
          <a:p>
            <a:pPr>
              <a:spcAft>
                <a:spcPts val="2000"/>
              </a:spcAft>
              <a:defRPr sz="2400">
                <a:solidFill>
                  <a:srgbClr val="829779"/>
                </a:solidFill>
              </a:defRPr>
            </a:pPr>
            <a:r>
              <a:t>AI-Powered Smart Library Management System</a:t>
            </a:r>
          </a:p>
          <a:p>
            <a:pPr>
              <a:spcAft>
                <a:spcPts val="3600"/>
              </a:spcAft>
              <a:defRPr sz="1500">
                <a:solidFill>
                  <a:srgbClr val="DCE5D5"/>
                </a:solidFill>
              </a:defRPr>
            </a:pPr>
            <a:r>
              <a:t>Reimagining Academic Discovery with TF-IDF Vector Search, Real-Time Study Pod Reservations, 3D Shelf Navigation, and Biophilic UX Architecture.</a:t>
            </a:r>
          </a:p>
          <a:p>
            <a:pPr>
              <a:defRPr sz="1200" b="1">
                <a:solidFill>
                  <a:srgbClr val="D4A373"/>
                </a:solidFill>
              </a:defRPr>
            </a:pPr>
            <a:r>
              <a:t>Presented by: LibraMind Engineering Team  |  Status: Production Verified (12/12 Acceptance Scenarios Passed)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2734D"/>
                </a:solidFill>
              </a:defRPr>
            </a:pPr>
            <a:r>
              <a:t>PROJECT VISION &amp;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33329"/>
                </a:solidFill>
              </a:defRPr>
            </a:pPr>
            <a:r>
              <a:t>Executive Summary: The Modern Library Dilemma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27432"/>
          </a:xfrm>
          <a:prstGeom prst="rect">
            <a:avLst/>
          </a:prstGeom>
          <a:solidFill>
            <a:srgbClr val="DCE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33329"/>
                </a:solidFill>
              </a:defRPr>
            </a:pPr>
            <a:r>
              <a:t>1. Physical Navigation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Students lose 15-25 minutes finding books across multi-floor stacks.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Traditional OPAC systems only provide Dewey call numbers, not physical locations.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LibraMind gives exact Floor, Section, Shelf Code, and Rack number.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Includes a personal 'Visit Planner' with floor-by-floor walking routes.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33329"/>
                </a:solidFill>
              </a:defRPr>
            </a:pPr>
            <a:r>
              <a:t>2. Study Space Friction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Peak exam season causes overcrowded pods and study space anxiety.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Lack of real-time seat status leads to campus crowding and disputes.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LibraMind features interactive floor-by-floor seat maps.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Atomic database indexes prevent race conditions and double-booking.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33329"/>
                </a:solidFill>
              </a:defRPr>
            </a:pPr>
            <a:r>
              <a:t>3. Intelligent Discovery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Keyword search fails when users recall themes rather than exact titles.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LibraMind implements an in-memory TF-IDF NLP semantic engine.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Content-based recommendations tailored to individual student research interests.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Built-in verified catalog AI Assistant to answer shelf availability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2734D"/>
                </a:solidFill>
              </a:defRPr>
            </a:pPr>
            <a:r>
              <a:t>ENGINEERING &amp;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33329"/>
                </a:solidFill>
              </a:defRPr>
            </a:pPr>
            <a:r>
              <a:t>Full-Stack Decoupled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27432"/>
          </a:xfrm>
          <a:prstGeom prst="rect">
            <a:avLst/>
          </a:prstGeom>
          <a:solidFill>
            <a:srgbClr val="DCE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33329"/>
                </a:solidFill>
              </a:defRPr>
            </a:pPr>
            <a:r>
              <a:t>Frontend Web Client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Built with React 19 and Vite for lightning-fast HMR and 400KB bundles.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Custom Biophilic Design System with zero heavy UI framework overhead.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Interactive SVG Seat Maps with live status color coding.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Lucide React icon system and responsive glassmorphic cards.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Context API for global Auth and polling Notification Center.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33329"/>
                </a:solidFill>
              </a:defRPr>
            </a:pPr>
            <a:r>
              <a:t>Backend API Services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Node.js &amp; Express 5 RESTful API modularized across 9 route domains.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Strict Role-Based Access Control (RBAC): Student, Librarian, Admin.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Atomic Transactions with better-sqlite3 Write-Ahead Logging (WAL).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Background Cron Scheduler for fine calculations and queue expirations.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Audit logging on all administrative actions for complete traceability.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33329"/>
                </a:solidFill>
              </a:defRPr>
            </a:pPr>
            <a:r>
              <a:t>AI &amp; Data Layer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SQLite 3 Database with ACID guarantees &amp; partial unique indexes.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TF-IDF Vector Engine &amp; Cosine Similarity for NLP query search.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Circulation velocity forecasting with 30-day predictive models.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50+ comprehensive books, 150+ physical copies, and 40 study pods seeded.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One-click CSV exports for enterprise library management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2734D"/>
                </a:solidFill>
              </a:defRPr>
            </a:pPr>
            <a:r>
              <a:t>NATURAL LANGUAGE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33329"/>
                </a:solidFill>
              </a:defRPr>
            </a:pPr>
            <a:r>
              <a:t>AI Book Finder &amp; Vector-Based Discovery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27432"/>
          </a:xfrm>
          <a:prstGeom prst="rect">
            <a:avLst/>
          </a:prstGeom>
          <a:solidFill>
            <a:srgbClr val="DCE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33329"/>
                </a:solidFill>
              </a:defRPr>
            </a:pPr>
            <a:r>
              <a:t>TF-IDF &amp; Cosine Similarity Matching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Tokenizes natural language queries (e.g., 'building scalable fault-tolerant backend systems').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Filters stop words, stems keywords, and computes Term Frequency-Inverse Document Frequency vectors across catalog metadata.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Calculates Cosine Similarity score against pre-indexed book vectors.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Provides transparent match rationale explaining exactly which query terms matched.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Guarantees instant sub-15ms response times without external API dependencies or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33329"/>
                </a:solidFill>
              </a:defRPr>
            </a:pPr>
            <a:r>
              <a:t>Personalized Recommendations &amp; Chatbot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Student Interest Onboarding: Captures academic disciplines during registration.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Content-based collaborative filtering matches student profile against catalog tags and borrowing patterns.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Curated 'Recommended for You' carousels refreshed dynamically.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LibraMind AI Assistant: Grounded conversational assistant strictly citing verified shelf locations and real-time copy availability.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Eliminates AI hallucinations by cross-verifying catalog database records in real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2734D"/>
                </a:solidFill>
              </a:defRPr>
            </a:pPr>
            <a:r>
              <a:t>SOLVING THE PHYSICAL RETRIEVAL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33329"/>
                </a:solidFill>
              </a:defRPr>
            </a:pPr>
            <a:r>
              <a:t>Physical Stacks Navigation &amp; Visit Planner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27432"/>
          </a:xfrm>
          <a:prstGeom prst="rect">
            <a:avLst/>
          </a:prstGeom>
          <a:solidFill>
            <a:srgbClr val="DCE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33329"/>
                </a:solidFill>
              </a:defRPr>
            </a:pPr>
            <a:r>
              <a:t>Granular Shelf Stacks Hierarchy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Every book in the catalog is indexed with complete spatial coordinates: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• Floor Level (Floor 1, 2, 3)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• Dedicated Section (e.g., Tech &amp; Engineering, Literature)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• Shelf Code (e.g., Shelf SE-04)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• Rack Unit (e.g., Rack 03)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Direct visual cues guide students directly to the physical shelf.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33329"/>
                </a:solidFill>
              </a:defRPr>
            </a:pPr>
            <a:r>
              <a:t>Physical Copy Tracking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Granular barcode-level tracking (e.g., LM-SE-04-C1, LM-SE-04-C2).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Live status badges: Available, Borrowed, In Maintenance, Lost.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Condition tracking: Excellent, Good, Fair.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Prevents empty-shelf disappointment by displaying real-time shelf status.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Librarians can flag damaged copies and track repair history.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33329"/>
                </a:solidFill>
              </a:defRPr>
            </a:pPr>
            <a:r>
              <a:t>My Library Visit Planner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Students can add target books to their personalized Visit Planner.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Groups reading lists automatically by Floor and Section.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Generates an optimal physical walking path across the library building.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Displays current seat availability on each floor before student arrives.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One-click 'Mark as Found' checklist during library visits.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2734D"/>
                </a:solidFill>
              </a:defRPr>
            </a:pPr>
            <a:r>
              <a:t>STUDY SPACE DISCOVERY &amp; CONCURRENCY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33329"/>
                </a:solidFill>
              </a:defRPr>
            </a:pPr>
            <a:r>
              <a:t>Smart Study Pods &amp; Anti-Conflict Booking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27432"/>
          </a:xfrm>
          <a:prstGeom prst="rect">
            <a:avLst/>
          </a:prstGeom>
          <a:solidFill>
            <a:srgbClr val="DCE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33329"/>
                </a:solidFill>
              </a:defRPr>
            </a:pPr>
            <a:r>
              <a:t>Interactive Floor &amp; Zone Seat Map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40 individual study pods categorized across 3 dedicated environments: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• Silent Focus Pods: Individual acoustic privacy carrels with power outlets.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• Collaborative Team Rooms: Group tables with dual-monitor docks and whiteboards.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• Window Nook Pods: Natural daylight biophilic seating with ergonomic chairs.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Real-time visual seat availability grid with intuitive color-coded occupancy badges.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Filter seats by Floor, Zone, and amenities (Power Outlet, Window, Whiteboard).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33329"/>
                </a:solidFill>
              </a:defRPr>
            </a:pPr>
            <a:r>
              <a:t>Concurrency Safety &amp; Atomic Reservations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SQLite Partial Unique Index strictly enforces zero double-bookings: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  CREATE UNIQUE INDEX idx_seat_active_reservation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  ON seat_reservations (seat_id, date, time_slot)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  WHERE status = 'active';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Concurrent race conditions are rejected at the database engine level.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Automated 2-hour reservation windows with 15-minute release grace periods.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Librarian override allows instant seat maintenance lockout when needed.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2734D"/>
                </a:solidFill>
              </a:defRPr>
            </a:pPr>
            <a:r>
              <a:t>CORE LIBRARY DESK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33329"/>
                </a:solidFill>
              </a:defRPr>
            </a:pPr>
            <a:r>
              <a:t>Circulation Engine &amp; Ordered Hold Queues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27432"/>
          </a:xfrm>
          <a:prstGeom prst="rect">
            <a:avLst/>
          </a:prstGeom>
          <a:solidFill>
            <a:srgbClr val="DCE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33329"/>
                </a:solidFill>
              </a:defRPr>
            </a:pPr>
            <a:r>
              <a:t>Lending Rules &amp; Automated Fines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14-day standard borrowing window with dynamic countdown indicator.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Automated overdue calculation: $1.00/day fine levied per overdue book.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Students can self-renew books up to 2 times if no holds are pending.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Librarian Fast Checkout &amp; Return desk with barcode scanner input.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Real-time email and in-app alert notifications for approaching due 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33329"/>
                </a:solidFill>
              </a:defRPr>
            </a:pPr>
            <a:r>
              <a:t>Ordered Waitlist &amp; Automated Hand-off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When all copies are checked out, students join an ordered FIFO hold queue.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Transparent queue position tracker (e.g., 'You are #1 of 3 in queue').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Automated Hand-off: When a borrower returns a book, the copy is reserved for Queue #1.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The next student receives an instant notification with a 48-hour pickup window.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If unclaimed, the reservation automatically cascades to Queue #2.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2734D"/>
                </a:solidFill>
              </a:defRPr>
            </a:pPr>
            <a:r>
              <a:t>RBAC &amp; COLLABORATION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33329"/>
                </a:solidFill>
              </a:defRPr>
            </a:pPr>
            <a:r>
              <a:t>Three Tailored Role-Based Workspaces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27432"/>
          </a:xfrm>
          <a:prstGeom prst="rect">
            <a:avLst/>
          </a:prstGeom>
          <a:solidFill>
            <a:srgbClr val="DCE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33329"/>
                </a:solidFill>
              </a:defRPr>
            </a:pPr>
            <a:r>
              <a:t>Student Workspace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Track active loans with due date countdown badges.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Monitor hold queue statuses and pickup desk notifications.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Explore personalized recommendations and manage Wishlist.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Book study pods and view library visit walking routes.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Interactive Book Compare tool to evaluate up to 3 titles side-by-side.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33329"/>
                </a:solidFill>
              </a:defRPr>
            </a:pPr>
            <a:r>
              <a:t>Librarian Desk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Fast issue &amp; return station with student membership lookup.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Manage inventory: Add new physical copies, edit barcodes, mark damaged books.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Fulfill reservations and prepare hold books at the front circulation desk.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Broadcast institution-wide announcements and notices directly to student screens.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Manage study pod maintenance statuses and override locks.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33329"/>
                </a:solidFill>
              </a:defRPr>
            </a:pPr>
            <a:r>
              <a:t>Admin Console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User management: Review registered patrons, change roles, or deactivate accounts.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Send targeted administrative direct messages to specific students.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Audit logging: Immutable timestamped audit trails of all system transactions.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Database integrity health check with live disk usage and index metrics.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Full catalog CSV export for compliance and archival backups.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2734D"/>
                </a:solidFill>
              </a:defRPr>
            </a:pPr>
            <a:r>
              <a:t>DATA-DRIVEN ACQUISITIONS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33329"/>
                </a:solidFill>
              </a:defRPr>
            </a:pPr>
            <a:r>
              <a:t>Circulation Analytics &amp; Predictive Demand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27432"/>
          </a:xfrm>
          <a:prstGeom prst="rect">
            <a:avLst/>
          </a:prstGeom>
          <a:solidFill>
            <a:srgbClr val="DCE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33329"/>
                </a:solidFill>
              </a:defRPr>
            </a:pPr>
            <a:r>
              <a:t>Circulation Velocity &amp; Seat Heatmaps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Monthly loan trends tracking circulation spikes across academic semesters.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Category distribution breakdown (Computer Science, Science, Humanities, Business).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Top 10 most borrowed titles highlighting student reading priorities.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Floor and zone study seat utilization density metrics.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Aids administrators in staffing librarian desks during peak study hours.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33329"/>
                </a:solidFill>
              </a:defRPr>
            </a:pPr>
            <a:r>
              <a:t>30-Day Algorithmic Demand Forecasting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Predictive demand score combining circulation velocity, category hold depth, and active queue sizes.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Highlights books at risk of inventory stockouts (e.g., 'Clean Code', 'Data-Intensive Applications').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Actionable acquisition recommendations for library procurement officers.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Helps librarians budget book purchases based on actual student demand data.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Instant CSV report download for library committee board meetings.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2734D"/>
                </a:solidFill>
              </a:defRPr>
            </a:pPr>
            <a:r>
              <a:t>QUALITY ASSURANCE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33329"/>
                </a:solidFill>
              </a:defRPr>
            </a:pPr>
            <a:r>
              <a:t>Comprehensive Verification: 12/12 Scenarios Passed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27432"/>
          </a:xfrm>
          <a:prstGeom prst="rect">
            <a:avLst/>
          </a:prstGeom>
          <a:solidFill>
            <a:srgbClr val="DCE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33329"/>
                </a:solidFill>
              </a:defRPr>
            </a:pPr>
            <a:r>
              <a:t>Automated Test Suite Highlights (1-6)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[PASS] Scenario 1: AI Topic Search with Shelf Location &amp; Match Explanation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[PASS] Scenario 2: Book Details &amp; Live Physical Availability Inspection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[PASS] Scenario 3: Concurrent Borrowing Race Condition Prevention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[PASS] Scenario 4: Ordered Hold Queue Sequence on Unavailable Titles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[PASS] Scenario 5: Return Notification and Automatic Queue Hand-off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[PASS] Scenario 6: Seat Double-Booking Prevention via Atomic Index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33329"/>
                </a:solidFill>
              </a:defRPr>
            </a:pPr>
            <a:r>
              <a:t>Automated Test Suite Highlights (7-12)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[PASS] Scenario 7: Book Match &amp; Compare Data Fidelity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[PASS] Scenario 8: My Library Visit Planner with Floor Grouping &amp; Walking Route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[PASS] Scenario 9: Contextual AI Assistant with Verified Location &amp; Availability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[PASS] Scenario 10: Backend Role-Based Access Control (RBAC) Enforcement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[PASS] Scenario 11: Trustworthy Analytics &amp; Transparent Demand Forecasting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[PASS] Scenario 12: Regression Verification of All Core Features &amp; Endpoints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2734D"/>
                </a:solidFill>
              </a:defRPr>
            </a:pPr>
            <a:r>
              <a:t>SERENE &amp; MINDFUL DIGITAL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33329"/>
                </a:solidFill>
              </a:defRPr>
            </a:pPr>
            <a:r>
              <a:t>Biophilic Design Philosophy &amp; Aesthetic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27432"/>
          </a:xfrm>
          <a:prstGeom prst="rect">
            <a:avLst/>
          </a:prstGeom>
          <a:solidFill>
            <a:srgbClr val="DCE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33329"/>
                </a:solidFill>
              </a:defRPr>
            </a:pPr>
            <a:r>
              <a:t>Nature-Inspired Palette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Forest Green (#344E41): Grounding foundation color.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Sage Green (#829779): Soft secondary elements.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Botanical Green (#52734D): Engaging CTAs &amp; buttons.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Soft Cream (#FAF8F1): Eye-friendly reading background.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Warm Beige (#F3EBDD): Natural wood finish card borders.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33329"/>
                </a:solidFill>
              </a:defRPr>
            </a:pPr>
            <a:r>
              <a:t>Cognitive Ergonomics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Eliminates high-contrast digital eye strain during late-night study sessions.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Subtle 150-200ms cubic-bezier micro-animations reduce cognitive load.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High accessibility: WCAG AA contrast compliance across all text and buttons.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Generous negative space evoking peaceful botanical gardens.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Card-based layouts provide immediate visual hierarchy.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33329"/>
                </a:solidFill>
              </a:defRPr>
            </a:pPr>
            <a:r>
              <a:t>Modern Typography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Outfit: Clean geometric sans-serif for crystal clear headings, badges, and metrics.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Newsreader: Classic literary editorial serif for book titles and descriptions.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Responsive font scaling seamlessly adapting to mobile, tablet, and desktop viewports.</a:t>
            </a:r>
          </a:p>
          <a:p>
            <a:pPr>
              <a:spcAft>
                <a:spcPts val="600"/>
              </a:spcAft>
              <a:defRPr sz="1300">
                <a:solidFill>
                  <a:srgbClr val="26352B"/>
                </a:solidFill>
              </a:defRPr>
            </a:pPr>
            <a:r>
              <a:t>• Clear visual indicators for live availability, queue numbers, and overdue warnings.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3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" cy="4754880"/>
          </a:xfrm>
          <a:prstGeom prst="rect">
            <a:avLst/>
          </a:prstGeom>
          <a:solidFill>
            <a:srgbClr val="527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CE5D5"/>
                </a:solidFill>
              </a:defRPr>
            </a:pPr>
            <a:r>
              <a:t>SUMMARY &amp; LIVE DEMONSTRATION</a:t>
            </a:r>
          </a:p>
          <a:p>
            <a:pPr>
              <a:spcAft>
                <a:spcPts val="1600"/>
              </a:spcAft>
              <a:defRPr sz="3600" b="1">
                <a:solidFill>
                  <a:srgbClr val="FAF8F1"/>
                </a:solidFill>
              </a:defRPr>
            </a:pPr>
            <a:r>
              <a:t>LibraMind: The Intelligent Library Ecosystem</a:t>
            </a:r>
          </a:p>
          <a:p>
            <a:pPr>
              <a:spcAft>
                <a:spcPts val="600"/>
              </a:spcAft>
              <a:defRPr sz="1800" b="1">
                <a:solidFill>
                  <a:srgbClr val="D4A373"/>
                </a:solidFill>
              </a:defRPr>
            </a:pPr>
            <a:r>
              <a:t>Key Takeaways:</a:t>
            </a:r>
          </a:p>
          <a:p>
            <a:pPr>
              <a:spcAft>
                <a:spcPts val="400"/>
              </a:spcAft>
              <a:defRPr sz="1400">
                <a:solidFill>
                  <a:srgbClr val="DCE5D5"/>
                </a:solidFill>
              </a:defRPr>
            </a:pPr>
            <a:r>
              <a:t>✔ Eliminates book retrieval friction with exact floor, shelf, and rack navigation.</a:t>
            </a:r>
          </a:p>
          <a:p>
            <a:pPr>
              <a:spcAft>
                <a:spcPts val="400"/>
              </a:spcAft>
              <a:defRPr sz="1400">
                <a:solidFill>
                  <a:srgbClr val="DCE5D5"/>
                </a:solidFill>
              </a:defRPr>
            </a:pPr>
            <a:r>
              <a:t>✔ Prevents study space anxiety with atomic, conflict-free seat reservation maps.</a:t>
            </a:r>
          </a:p>
          <a:p>
            <a:pPr>
              <a:spcAft>
                <a:spcPts val="400"/>
              </a:spcAft>
              <a:defRPr sz="1400">
                <a:solidFill>
                  <a:srgbClr val="DCE5D5"/>
                </a:solidFill>
              </a:defRPr>
            </a:pPr>
            <a:r>
              <a:t>✔ Enhances academic discovery with TF-IDF vector matching and personalized suggestions.</a:t>
            </a:r>
          </a:p>
          <a:p>
            <a:pPr>
              <a:spcAft>
                <a:spcPts val="400"/>
              </a:spcAft>
              <a:defRPr sz="1400">
                <a:solidFill>
                  <a:srgbClr val="DCE5D5"/>
                </a:solidFill>
              </a:defRPr>
            </a:pPr>
            <a:r>
              <a:t>✔ Fully operational and verified with 12/12 automated integration tests passing.</a:t>
            </a:r>
          </a:p>
          <a:p>
            <a:pPr>
              <a:spcAft>
                <a:spcPts val="400"/>
              </a:spcAft>
              <a:defRPr sz="1400">
                <a:solidFill>
                  <a:srgbClr val="DCE5D5"/>
                </a:solidFill>
              </a:defRPr>
            </a:pPr>
            <a:r>
              <a:t>✔ Ready to run locally: npm run dev starts both backend (5000) and frontend (5174).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Try Demo Accounts: Student (student@libramind.edu) | Librarian (librarian@libramind.edu) | Admin (admin@libramind.edu)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